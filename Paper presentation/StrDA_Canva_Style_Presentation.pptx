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11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75520" y="548640"/>
            <a:ext cx="1417320" cy="1417320"/>
          </a:xfrm>
          <a:prstGeom prst="ellipse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61320" y="1143000"/>
            <a:ext cx="914400" cy="914400"/>
          </a:xfrm>
          <a:prstGeom prst="ellipse">
            <a:avLst/>
          </a:prstGeom>
          <a:solidFill>
            <a:srgbClr val="E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235440" y="1508760"/>
            <a:ext cx="685800" cy="685800"/>
          </a:xfrm>
          <a:prstGeom prst="ellipse">
            <a:avLst/>
          </a:prstGeom>
          <a:solidFill>
            <a:srgbClr val="FC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640080"/>
            <a:ext cx="141732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8952" y="676656"/>
            <a:ext cx="12710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WACV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9875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000" b="1">
                <a:solidFill>
                  <a:srgbClr val="182230"/>
                </a:solidFill>
                <a:latin typeface="Aptos"/>
              </a:defRPr>
            </a:pPr>
            <a:r>
              <a:t>Stratified Domain</a:t>
            </a:r>
            <a:br/>
            <a:r>
              <a:t>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97180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0">
                <a:solidFill>
                  <a:srgbClr val="3D69D6"/>
                </a:solidFill>
                <a:latin typeface="Aptos"/>
              </a:defRPr>
            </a:pPr>
            <a:r>
              <a:t>A Progressive Self-Training Approach</a:t>
            </a:r>
            <a:br/>
            <a:r>
              <a:t>for Scene Text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5C697A"/>
                </a:solidFill>
                <a:latin typeface="Aptos"/>
              </a:defRPr>
            </a:pPr>
            <a:r>
              <a:t>Kha Nhat Le • Hoang-Tuan Nguyen • Hung Tien Tran • Thanh Duc Ngo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81728"/>
            <a:ext cx="9875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University of Information Technology, VNU-HCM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86400"/>
            <a:ext cx="19659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564184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3D69D6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88920" y="5632704"/>
            <a:ext cx="384048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291840" y="5486400"/>
            <a:ext cx="19659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564184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28A699"/>
                </a:solidFill>
                <a:latin typeface="Aptos"/>
              </a:defRPr>
            </a:pPr>
            <a:r>
              <a:t>EASY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303520" y="5632704"/>
            <a:ext cx="384048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806440" y="5486400"/>
            <a:ext cx="19659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06440" y="564184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EB705D"/>
                </a:solidFill>
                <a:latin typeface="Aptos"/>
              </a:defRPr>
            </a:pPr>
            <a:r>
              <a:t>HARD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18120" y="5632704"/>
            <a:ext cx="384048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321040" y="5486400"/>
            <a:ext cx="19659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7D5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564184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7D5EBE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468112"/>
            <a:ext cx="283464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182230"/>
                </a:solidFill>
                <a:latin typeface="Aptos"/>
              </a:defRPr>
            </a:pPr>
            <a:r>
              <a:rPr dirty="0"/>
              <a:t>Presented by</a:t>
            </a:r>
            <a:br>
              <a:rPr dirty="0"/>
            </a:br>
            <a:r>
              <a:rPr lang="en-US" dirty="0" err="1"/>
              <a:t>VisionHeart</a:t>
            </a:r>
            <a:endParaRPr lang="en-US" dirty="0"/>
          </a:p>
          <a:p>
            <a:pPr algn="r">
              <a:defRPr sz="1200" b="1">
                <a:solidFill>
                  <a:srgbClr val="182230"/>
                </a:solidFill>
                <a:latin typeface="Aptos"/>
              </a:defRPr>
            </a:pP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01 •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Why does scene text recognition struggle in the real world?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The paper focuses on the gap between labeled synthetic data and unlabeled real images.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246120" cy="3154680"/>
          </a:xfrm>
          <a:prstGeom prst="round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965960"/>
            <a:ext cx="109728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002536"/>
            <a:ext cx="950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82230"/>
                </a:solidFill>
                <a:latin typeface="Aptos"/>
              </a:defRPr>
            </a:pPr>
            <a:r>
              <a:t>Synthetic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63240"/>
            <a:ext cx="25603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5C697A"/>
                </a:solidFill>
                <a:latin typeface="Aptos"/>
              </a:defRPr>
            </a:pPr>
            <a:r>
              <a:t>Large amounts of training data</a:t>
            </a:r>
            <a:br/>
            <a:r>
              <a:t>+ labels are available.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28A699"/>
                </a:solidFill>
                <a:latin typeface="Aptos"/>
              </a:defRPr>
            </a:pPr>
            <a:r>
              <a:t>✓ Labeled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737360"/>
            <a:ext cx="3246120" cy="3154680"/>
          </a:xfrm>
          <a:prstGeom prst="roundRect">
            <a:avLst/>
          </a:prstGeom>
          <a:solidFill>
            <a:srgbClr val="FCEBE7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412480" y="1965960"/>
            <a:ext cx="109728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85632" y="2002536"/>
            <a:ext cx="9509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EB705D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514600"/>
            <a:ext cx="2651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82230"/>
                </a:solidFill>
                <a:latin typeface="Aptos"/>
              </a:defRPr>
            </a:pPr>
            <a:r>
              <a:t>Real-world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063240"/>
            <a:ext cx="25603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5C697A"/>
                </a:solidFill>
                <a:latin typeface="Aptos"/>
              </a:defRPr>
            </a:pPr>
            <a:r>
              <a:t>More realistic—but labels</a:t>
            </a:r>
            <a:br/>
            <a:r>
              <a:t>are expensive to obtain.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29768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EB705D"/>
                </a:solidFill>
                <a:latin typeface="Aptos"/>
              </a:defRPr>
            </a:pPr>
            <a:r>
              <a:t>✕ Unlabeled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2057400"/>
            <a:ext cx="3703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EB705D"/>
                </a:solidFill>
                <a:latin typeface="Aptos"/>
              </a:defRPr>
            </a:pPr>
            <a:r>
              <a:t>DOMAIN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514600"/>
            <a:ext cx="40690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182230"/>
                </a:solidFill>
                <a:latin typeface="Aptos"/>
              </a:defRPr>
            </a:pPr>
            <a:r>
              <a:t>Synthetic  → 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520440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5C697A"/>
                </a:solidFill>
                <a:latin typeface="Aptos"/>
              </a:defRPr>
            </a:pPr>
            <a:r>
              <a:t>A source-trained model can lose accuracy when the data distribution changes.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94960" y="4480560"/>
            <a:ext cx="502920" cy="274320"/>
          </a:xfrm>
          <a:prstGeom prst="rightArrow">
            <a:avLst/>
          </a:prstGeom>
          <a:solidFill>
            <a:srgbClr val="EB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493776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8A699"/>
                </a:solidFill>
                <a:latin typeface="Aptos"/>
              </a:defRPr>
            </a:pPr>
            <a:r>
              <a:t>Goal: adapt without human annotation of the target domain.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02 • 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Vanilla self-training can amplify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The model predicts labels for unlabeled target images and then learns from those predictions.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148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2230"/>
                </a:solidFill>
                <a:latin typeface="Aptos"/>
              </a:defRPr>
            </a:pPr>
            <a:r>
              <a:t>Source-trained</a:t>
            </a:r>
            <a:br/>
            <a:r>
              <a:t>model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44368" y="2130552"/>
            <a:ext cx="438912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520439" y="1737360"/>
            <a:ext cx="2148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7D5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11879" y="2011680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2230"/>
                </a:solidFill>
                <a:latin typeface="Aptos"/>
              </a:defRPr>
            </a:pPr>
            <a:r>
              <a:t>All target</a:t>
            </a:r>
            <a:br/>
            <a:r>
              <a:t>images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33288" y="2130552"/>
            <a:ext cx="438912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2148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799" y="2011680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2230"/>
                </a:solidFill>
                <a:latin typeface="Aptos"/>
              </a:defRPr>
            </a:pPr>
            <a:r>
              <a:t>Pseudo-</a:t>
            </a:r>
            <a:br/>
            <a:r>
              <a:t>labels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22208" y="2130552"/>
            <a:ext cx="438912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098280" y="1737360"/>
            <a:ext cx="2148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89719" y="2011680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182230"/>
                </a:solidFill>
                <a:latin typeface="Aptos"/>
              </a:defRPr>
            </a:pPr>
            <a:r>
              <a:t>Retrain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82230"/>
                </a:solidFill>
                <a:latin typeface="Aptos"/>
              </a:defRPr>
            </a:pPr>
            <a:r>
              <a:t>When the target sample is far from the source domain…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03320"/>
            <a:ext cx="3246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913632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5C697A"/>
                </a:solidFill>
                <a:latin typeface="Aptos"/>
              </a:defRPr>
            </a:pPr>
            <a:r>
              <a:t>TRUE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84048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600" b="1">
                <a:solidFill>
                  <a:srgbClr val="182230"/>
                </a:solidFill>
                <a:latin typeface="Aptos"/>
              </a:defRPr>
            </a:pPr>
            <a:r>
              <a:t>AUSTRALIA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5C697A"/>
                </a:solidFill>
                <a:latin typeface="Aptos"/>
              </a:defRPr>
            </a:pPr>
            <a:r>
              <a:t>PREDICTED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270248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600" b="1">
                <a:solidFill>
                  <a:srgbClr val="EB705D"/>
                </a:solidFill>
                <a:latin typeface="Aptos"/>
              </a:defRPr>
            </a:pPr>
            <a:r>
              <a:t>AUSTRAUA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703320"/>
            <a:ext cx="3246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7720" y="3913632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5C697A"/>
                </a:solidFill>
                <a:latin typeface="Aptos"/>
              </a:defRPr>
            </a:pPr>
            <a:r>
              <a:t>TRUE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84048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600" b="1">
                <a:solidFill>
                  <a:srgbClr val="182230"/>
                </a:solidFill>
                <a:latin typeface="Aptos"/>
              </a:defRPr>
            </a:pPr>
            <a:r>
              <a:t>DISTRICT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43400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5C697A"/>
                </a:solidFill>
                <a:latin typeface="Aptos"/>
              </a:defRPr>
            </a:pPr>
            <a:r>
              <a:t>PREDICTED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270248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600" b="1">
                <a:solidFill>
                  <a:srgbClr val="EB705D"/>
                </a:solidFill>
                <a:latin typeface="Aptos"/>
              </a:defRPr>
            </a:pPr>
            <a:r>
              <a:t>DISTNCT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3703320"/>
            <a:ext cx="3246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3913632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5C697A"/>
                </a:solidFill>
                <a:latin typeface="Aptos"/>
              </a:defRPr>
            </a:pPr>
            <a: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384048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600" b="1">
                <a:solidFill>
                  <a:srgbClr val="182230"/>
                </a:solidFill>
                <a:latin typeface="Aptos"/>
              </a:defRPr>
            </a:pPr>
            <a:r>
              <a:t>CAMEL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343400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5C697A"/>
                </a:solidFill>
                <a:latin typeface="Aptos"/>
              </a:defRPr>
            </a:pPr>
            <a:r>
              <a:t>PREDICTED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270248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600" b="1">
                <a:solidFill>
                  <a:srgbClr val="EB705D"/>
                </a:solidFill>
                <a:latin typeface="Aptos"/>
              </a:defRPr>
            </a:pPr>
            <a:r>
              <a:t>GRMEL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30352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EB705D"/>
                </a:solidFill>
                <a:latin typeface="Aptos"/>
              </a:defRPr>
            </a:pPr>
            <a:r>
              <a:t>If incorrect pseudo-labels are reused for training, errors can reinforce themselves.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03 • PROPOSED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StrDA: cross the domain gap in smaller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Instead of adapting to all target images at once, order them by how close they are to the source.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19"/>
            <a:ext cx="1307592" cy="960120"/>
          </a:xfrm>
          <a:prstGeom prst="round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6344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746504" y="2185416"/>
            <a:ext cx="22860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039112" y="1874519"/>
            <a:ext cx="1307592" cy="96012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93976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T₁</a:t>
            </a:r>
            <a:br/>
            <a:r>
              <a:t>closest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74136" y="2185416"/>
            <a:ext cx="22860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66744" y="1874519"/>
            <a:ext cx="1307592" cy="96012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21607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T₂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01768" y="2185416"/>
            <a:ext cx="22860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94376" y="1874519"/>
            <a:ext cx="1307592" cy="96012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9240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T₃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29400" y="2185416"/>
            <a:ext cx="22860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22008" y="1874519"/>
            <a:ext cx="1307592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5C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76872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…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2185416"/>
            <a:ext cx="22860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549640" y="1874519"/>
            <a:ext cx="1307592" cy="960120"/>
          </a:xfrm>
          <a:prstGeom prst="roundRect">
            <a:avLst/>
          </a:prstGeom>
          <a:solidFill>
            <a:srgbClr val="FCEBE7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04504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Tₙ</a:t>
            </a:r>
            <a:br/>
            <a:r>
              <a:t>hardest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84663" y="2185416"/>
            <a:ext cx="22860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177272" y="1874519"/>
            <a:ext cx="1307592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7D5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32136" y="2075688"/>
            <a:ext cx="1197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3429000"/>
            <a:ext cx="102412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36850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3D69D6"/>
                </a:solidFill>
                <a:latin typeface="Aptos"/>
              </a:defRPr>
            </a:pPr>
            <a:r>
              <a:t>KEY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096512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182230"/>
                </a:solidFill>
                <a:latin typeface="Aptos"/>
              </a:defRPr>
            </a:pPr>
            <a:r>
              <a:t>Each training round sees a smaller domain shift.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7091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The model improves before it meets the harder target samples.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04 •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Two stages make StrDA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5780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828800"/>
            <a:ext cx="91440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865376"/>
            <a:ext cx="76809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STAGE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182230"/>
                </a:solidFill>
                <a:latin typeface="Aptos"/>
              </a:defRPr>
            </a:pPr>
            <a:r>
              <a:t>Domain Stratifying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63240"/>
            <a:ext cx="960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7D5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3282696"/>
            <a:ext cx="8869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82230"/>
                </a:solidFill>
                <a:latin typeface="Aptos"/>
              </a:defRPr>
            </a:pPr>
            <a:r>
              <a:t>Target</a:t>
            </a:r>
            <a:br/>
            <a:r>
              <a:t>images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92808" y="3383280"/>
            <a:ext cx="146304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84832" y="3063240"/>
            <a:ext cx="960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21408" y="3282696"/>
            <a:ext cx="8869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82230"/>
                </a:solidFill>
                <a:latin typeface="Aptos"/>
              </a:defRPr>
            </a:pPr>
            <a:r>
              <a:t>HDGE</a:t>
            </a:r>
            <a:br/>
            <a:r>
              <a:t>score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3383280"/>
            <a:ext cx="146304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255264" y="3063240"/>
            <a:ext cx="960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91840" y="3282696"/>
            <a:ext cx="8869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82230"/>
                </a:solidFill>
                <a:latin typeface="Aptos"/>
              </a:defRPr>
            </a:pPr>
            <a:r>
              <a:t>Sort by dᵢ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33672" y="3383280"/>
            <a:ext cx="146304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425696" y="3063240"/>
            <a:ext cx="960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2272" y="3282696"/>
            <a:ext cx="8869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82230"/>
                </a:solidFill>
                <a:latin typeface="Aptos"/>
              </a:defRPr>
            </a:pPr>
            <a:r>
              <a:t>Partition</a:t>
            </a:r>
            <a:br/>
            <a:r>
              <a:t>T₁…Tₙ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44805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Output: ordered target subsets</a:t>
            </a:r>
            <a:br/>
            <a:r>
              <a:t>with progressively larger domain gaps.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600200"/>
            <a:ext cx="525780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92240" y="1828800"/>
            <a:ext cx="914400" cy="310896"/>
          </a:xfrm>
          <a:prstGeom prst="roundRect">
            <a:avLst/>
          </a:prstGeom>
          <a:solidFill>
            <a:srgbClr val="E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65392" y="1865376"/>
            <a:ext cx="76809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28A699"/>
                </a:solidFill>
                <a:latin typeface="Aptos"/>
              </a:defRPr>
            </a:pPr>
            <a:r>
              <a:t>STAGE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31720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182230"/>
                </a:solidFill>
                <a:latin typeface="Aptos"/>
              </a:defRPr>
            </a:pPr>
            <a:r>
              <a:t>Progressive Self-Training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063240"/>
            <a:ext cx="914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11112" y="3282696"/>
            <a:ext cx="859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2230"/>
                </a:solidFill>
                <a:latin typeface="Aptos"/>
              </a:defRPr>
            </a:pPr>
            <a:r>
              <a:t>M₀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516368" y="3383280"/>
            <a:ext cx="13716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699248" y="3063240"/>
            <a:ext cx="914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26679" y="3282696"/>
            <a:ext cx="859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2230"/>
                </a:solidFill>
                <a:latin typeface="Aptos"/>
              </a:defRPr>
            </a:pPr>
            <a:r>
              <a:t>T₁</a:t>
            </a:r>
            <a:br/>
            <a:r>
              <a:t>→ M₁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631936" y="3383280"/>
            <a:ext cx="13716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814816" y="3063240"/>
            <a:ext cx="914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42248" y="3282696"/>
            <a:ext cx="859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2230"/>
                </a:solidFill>
                <a:latin typeface="Aptos"/>
              </a:defRPr>
            </a:pPr>
            <a:r>
              <a:t>T₂</a:t>
            </a:r>
            <a:br/>
            <a:r>
              <a:t>→ M₂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47504" y="3383280"/>
            <a:ext cx="13716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930384" y="3063240"/>
            <a:ext cx="914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57815" y="3282696"/>
            <a:ext cx="85953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2230"/>
                </a:solidFill>
                <a:latin typeface="Aptos"/>
              </a:defRPr>
            </a:pPr>
            <a:r>
              <a:t>…</a:t>
            </a:r>
            <a:br/>
            <a:r>
              <a:t>→ Mₙ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389120"/>
            <a:ext cx="44805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Output: a model that has gradually</a:t>
            </a:r>
            <a:br/>
            <a:r>
              <a:t>adapted toward the target domain.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05 • STAGE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HDGE decides which target samples should come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The Harmonic Domain Gap Estimator combines source-side and target-side OOD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749039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>
                <a:solidFill>
                  <a:srgbClr val="182230"/>
                </a:solidFill>
                <a:latin typeface="Aptos"/>
              </a:defRPr>
            </a:pPr>
            <a:r>
              <a:t>Two domain views</a:t>
            </a:r>
          </a:p>
        </p:txBody>
      </p:sp>
      <p:sp>
        <p:nvSpPr>
          <p:cNvPr id="7" name="Oval 6"/>
          <p:cNvSpPr/>
          <p:nvPr/>
        </p:nvSpPr>
        <p:spPr>
          <a:xfrm>
            <a:off x="914399" y="2194560"/>
            <a:ext cx="1188720" cy="11887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39" y="2697479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3D69D6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9" name="Oval 8"/>
          <p:cNvSpPr/>
          <p:nvPr/>
        </p:nvSpPr>
        <p:spPr>
          <a:xfrm>
            <a:off x="2651760" y="2194560"/>
            <a:ext cx="1188720" cy="11887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D5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2697479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7D5EBE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487168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182230"/>
                </a:solidFill>
                <a:latin typeface="Aptos"/>
              </a:defRPr>
            </a:pPr>
            <a:r>
              <a:t>xᵢ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dS(xᵢ)  →  source-side gap</a:t>
            </a:r>
            <a:br/>
            <a:r>
              <a:t>dT(xᵢ)  →  target-side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8A699"/>
                </a:solidFill>
                <a:latin typeface="Aptos"/>
              </a:defRPr>
            </a:pPr>
            <a:r>
              <a:t>Both signals are combined into dᵢ.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600200"/>
            <a:ext cx="681228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0" y="1874519"/>
            <a:ext cx="6217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8A699"/>
                </a:solidFill>
                <a:latin typeface="Aptos"/>
              </a:defRPr>
            </a:pPr>
            <a:r>
              <a:t>HDGE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423160"/>
            <a:ext cx="6263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182230"/>
                </a:solidFill>
                <a:latin typeface="Cambria Math"/>
              </a:defRPr>
            </a:pPr>
            <a:r>
              <a:t>dᵢ =  ((1 + β²) dS dT)</a:t>
            </a:r>
            <a:br/>
            <a:r>
              <a:t>       / (β² dS + dT)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520440"/>
            <a:ext cx="5897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3D69D6"/>
                </a:solidFill>
                <a:latin typeface="Aptos"/>
              </a:defRPr>
            </a:pPr>
            <a:r>
              <a:t>Lower dᵢ  →  closer to the source  →  adapt earlier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4069080"/>
            <a:ext cx="5897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The paper uses 0 ≤ β &lt; 1 and biases the ordering toward smaller source-side distance.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5166360"/>
            <a:ext cx="269748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02552" y="5202936"/>
            <a:ext cx="255117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SOURCE-LIKE →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06 • HOW HDGE IS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Why does the discriminator know the domain gap?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The paper trains two source/target mapping directions with adversarial discriminators.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1874519" cy="914400"/>
          </a:xfrm>
          <a:prstGeom prst="round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304288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3D69D6"/>
                </a:solidFill>
                <a:latin typeface="Aptos"/>
              </a:defRPr>
            </a:pPr>
            <a:r>
              <a:t>SOURCE 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2057400"/>
            <a:ext cx="1874519" cy="914400"/>
          </a:xfrm>
          <a:prstGeom prst="roundRect">
            <a:avLst/>
          </a:prstGeom>
          <a:solidFill>
            <a:srgbClr val="FCEBE7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46920" y="2304288"/>
            <a:ext cx="187451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EB705D"/>
                </a:solidFill>
                <a:latin typeface="Aptos"/>
              </a:defRPr>
            </a:pPr>
            <a:r>
              <a:t>TARGET  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508760"/>
            <a:ext cx="2103120" cy="91440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175564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8A699"/>
                </a:solidFill>
                <a:latin typeface="Aptos"/>
              </a:defRPr>
            </a:pPr>
            <a:r>
              <a:t>Gₜ : S → 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3246120"/>
            <a:ext cx="2103120" cy="91440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349300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8A699"/>
                </a:solidFill>
                <a:latin typeface="Aptos"/>
              </a:defRPr>
            </a:pPr>
            <a:r>
              <a:t>Gₛ : T →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150876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0" y="175564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900" b="1">
                <a:solidFill>
                  <a:srgbClr val="3D69D6"/>
                </a:solidFill>
                <a:latin typeface="Aptos"/>
              </a:defRPr>
            </a:pPr>
            <a:r>
              <a:t>Dₜ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46120"/>
            <a:ext cx="16459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0" y="3493008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900" b="1">
                <a:solidFill>
                  <a:srgbClr val="EB705D"/>
                </a:solidFill>
                <a:latin typeface="Aptos"/>
              </a:defRPr>
            </a:pPr>
            <a:r>
              <a:t>Dₛ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651760" y="2331720"/>
            <a:ext cx="457200" cy="274320"/>
          </a:xfrm>
          <a:prstGeom prst="rightArrow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5349240" y="1874519"/>
            <a:ext cx="228600" cy="274320"/>
          </a:xfrm>
          <a:prstGeom prst="rightArrow">
            <a:avLst/>
          </a:prstGeom>
          <a:solidFill>
            <a:srgbClr val="28A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7150608" y="1874519"/>
            <a:ext cx="320040" cy="274320"/>
          </a:xfrm>
          <a:prstGeom prst="rightArrow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ight Arrow 19"/>
          <p:cNvSpPr/>
          <p:nvPr/>
        </p:nvSpPr>
        <p:spPr>
          <a:xfrm>
            <a:off x="8915400" y="2331720"/>
            <a:ext cx="548640" cy="274320"/>
          </a:xfrm>
          <a:prstGeom prst="rightArrow">
            <a:avLst/>
          </a:prstGeom>
          <a:solidFill>
            <a:srgbClr val="28A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ight Arrow 20"/>
          <p:cNvSpPr/>
          <p:nvPr/>
        </p:nvSpPr>
        <p:spPr>
          <a:xfrm>
            <a:off x="8961120" y="3611880"/>
            <a:ext cx="502920" cy="274320"/>
          </a:xfrm>
          <a:prstGeom prst="rightArrow">
            <a:avLst/>
          </a:prstGeom>
          <a:solidFill>
            <a:srgbClr val="28A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ight Arrow 21"/>
          <p:cNvSpPr/>
          <p:nvPr/>
        </p:nvSpPr>
        <p:spPr>
          <a:xfrm>
            <a:off x="6309360" y="3611880"/>
            <a:ext cx="411480" cy="274320"/>
          </a:xfrm>
          <a:prstGeom prst="rightArrow">
            <a:avLst/>
          </a:prstGeom>
          <a:solidFill>
            <a:srgbClr val="EB70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ight Arrow 22"/>
          <p:cNvSpPr/>
          <p:nvPr/>
        </p:nvSpPr>
        <p:spPr>
          <a:xfrm>
            <a:off x="3840480" y="3611880"/>
            <a:ext cx="502920" cy="274320"/>
          </a:xfrm>
          <a:prstGeom prst="rightArrow">
            <a:avLst/>
          </a:prstGeom>
          <a:solidFill>
            <a:srgbClr val="28A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31520" y="480060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After adversarial training, Dₛ and Dₜ provide OOD-level signals used to compute the HDGE score.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07 • STAGE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Progressive self-training turns predictions into supervision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Each round uses the current model to pseudo-label the next target subset.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143000" cy="868680"/>
          </a:xfrm>
          <a:prstGeom prst="round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9496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M₀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673352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938528" y="1828800"/>
            <a:ext cx="1143000" cy="86868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75104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T₁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74136" y="1828800"/>
            <a:ext cx="1143000" cy="86868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10712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M₁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4568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09744" y="1828800"/>
            <a:ext cx="1143000" cy="86868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0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T₂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0176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45352" y="1828800"/>
            <a:ext cx="1143000" cy="86868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81928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M₂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15783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680960" y="1828800"/>
            <a:ext cx="11430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5C6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17536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…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851392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116568" y="1828800"/>
            <a:ext cx="1143000" cy="868680"/>
          </a:xfrm>
          <a:prstGeom prst="roundRect">
            <a:avLst/>
          </a:prstGeom>
          <a:solidFill>
            <a:srgbClr val="FCEBE7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53144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Tₙ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287000" y="2121408"/>
            <a:ext cx="182880" cy="274320"/>
          </a:xfrm>
          <a:prstGeom prst="rightArrow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552176" y="1828800"/>
            <a:ext cx="11430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7D5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88752" y="2075688"/>
            <a:ext cx="10698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182230"/>
                </a:solidFill>
                <a:latin typeface="Aptos"/>
              </a:defRPr>
            </a:pPr>
            <a:r>
              <a:t>Mₙ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337560"/>
            <a:ext cx="48920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88720" y="3611880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82230"/>
                </a:solidFill>
                <a:latin typeface="Aptos"/>
              </a:defRPr>
            </a:pPr>
            <a:r>
              <a:t>Pseudo-label + confidence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096512"/>
            <a:ext cx="4297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The model predicts a label for each target image and records a confidence score.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337560"/>
            <a:ext cx="48920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92240" y="3611880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182230"/>
                </a:solidFill>
                <a:latin typeface="Aptos"/>
              </a:defRPr>
            </a:pPr>
            <a:r>
              <a:t>Adaptive training objective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41648"/>
            <a:ext cx="4297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5C697A"/>
                </a:solidFill>
                <a:latin typeface="Aptos"/>
              </a:defRPr>
            </a:pPr>
            <a:r>
              <a:t>Source loss and target pseudo-label loss are weighted using the subset's mean confidence mᵢ.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6235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28A699"/>
                </a:solidFill>
                <a:latin typeface="Aptos"/>
              </a:defRPr>
            </a:pPr>
            <a:r>
              <a:t>High-confidence target supervision gets a stronger role as adaptation progresses.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08 •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StrDAHDGE improves all three tested STR backbones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Word accuracy averaged over six standard scene-text benchmarks.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047488"/>
            <a:ext cx="685800" cy="301752"/>
          </a:xfrm>
          <a:prstGeom prst="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727448"/>
            <a:ext cx="777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3D69D6"/>
                </a:solidFill>
                <a:latin typeface="Aptos"/>
              </a:defRPr>
            </a:pPr>
            <a:r>
              <a:t>84.4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4937759"/>
            <a:ext cx="685800" cy="411479"/>
          </a:xfrm>
          <a:prstGeom prst="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91640" y="4617720"/>
            <a:ext cx="777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28A699"/>
                </a:solidFill>
                <a:latin typeface="Aptos"/>
              </a:defRPr>
            </a:pPr>
            <a:r>
              <a:t>86.0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CRNN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4594859"/>
            <a:ext cx="685800" cy="754380"/>
          </a:xfrm>
          <a:prstGeom prst="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4274820"/>
            <a:ext cx="777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3D69D6"/>
                </a:solidFill>
                <a:latin typeface="Aptos"/>
              </a:defRPr>
            </a:pPr>
            <a:r>
              <a:t>91.0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4471416"/>
            <a:ext cx="685800" cy="877823"/>
          </a:xfrm>
          <a:prstGeom prst="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94960" y="4151376"/>
            <a:ext cx="777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28A699"/>
                </a:solidFill>
                <a:latin typeface="Aptos"/>
              </a:defRPr>
            </a:pPr>
            <a:r>
              <a:t>92.8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48640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TRBA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539996"/>
            <a:ext cx="685800" cy="809243"/>
          </a:xfrm>
          <a:prstGeom prst="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79" y="4219956"/>
            <a:ext cx="777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3D69D6"/>
                </a:solidFill>
                <a:latin typeface="Aptos"/>
              </a:defRPr>
            </a:pPr>
            <a:r>
              <a:t>91.8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443983"/>
            <a:ext cx="685800" cy="905256"/>
          </a:xfrm>
          <a:prstGeom prst="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4123944"/>
            <a:ext cx="777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28A699"/>
                </a:solidFill>
                <a:latin typeface="Aptos"/>
              </a:defRPr>
            </a:pPr>
            <a:r>
              <a:t>93.2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548640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2230"/>
                </a:solidFill>
                <a:latin typeface="Aptos"/>
              </a:defRPr>
            </a:pPr>
            <a:r>
              <a:t>ABINet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691640"/>
            <a:ext cx="118872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1728216"/>
            <a:ext cx="10424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1691640"/>
            <a:ext cx="1417320" cy="310896"/>
          </a:xfrm>
          <a:prstGeom prst="roundRect">
            <a:avLst/>
          </a:prstGeom>
          <a:solidFill>
            <a:srgbClr val="E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404872" y="1728216"/>
            <a:ext cx="12710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28A699"/>
                </a:solidFill>
                <a:latin typeface="Aptos"/>
              </a:defRPr>
            </a:pPr>
            <a:r>
              <a:t>STRDAHDGE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331720"/>
            <a:ext cx="2743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251460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82230"/>
                </a:solidFill>
                <a:latin typeface="Aptos"/>
              </a:defRPr>
            </a:pPr>
            <a:r>
              <a:t>CRNN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468880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700" b="1">
                <a:solidFill>
                  <a:srgbClr val="28A699"/>
                </a:solidFill>
                <a:latin typeface="Aptos"/>
              </a:defRPr>
            </a:pPr>
            <a:r>
              <a:t>+1.6 pts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2331720"/>
            <a:ext cx="2743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59" y="251460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82230"/>
                </a:solidFill>
                <a:latin typeface="Aptos"/>
              </a:defRPr>
            </a:pPr>
            <a:r>
              <a:t>TRBA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468880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700" b="1">
                <a:solidFill>
                  <a:srgbClr val="28A699"/>
                </a:solidFill>
                <a:latin typeface="Aptos"/>
              </a:defRPr>
            </a:pPr>
            <a:r>
              <a:t>+1.8 pts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331720"/>
            <a:ext cx="2743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251460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82230"/>
                </a:solidFill>
                <a:latin typeface="Aptos"/>
              </a:defRPr>
            </a:pPr>
            <a:r>
              <a:t>ABINet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2468880"/>
            <a:ext cx="1417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700" b="1">
                <a:solidFill>
                  <a:srgbClr val="28A699"/>
                </a:solidFill>
                <a:latin typeface="Aptos"/>
              </a:defRPr>
            </a:pPr>
            <a:r>
              <a:t>+1.4 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4360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B705D"/>
                </a:solidFill>
                <a:latin typeface="Aptos"/>
              </a:defRPr>
            </a:pPr>
            <a:r>
              <a:t>On Union14M, the gains are even larger: +4.5 CRNN • +7.6 TRBA • +7.2 ABINet.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09 •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Two experiments explain why the design choices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The paper studies the number of subsets n and the HDGE parameter 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492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874519"/>
            <a:ext cx="96012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911095"/>
            <a:ext cx="8138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ABLATION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82230"/>
                </a:solidFill>
                <a:latin typeface="Aptos"/>
              </a:defRPr>
            </a:pPr>
            <a:r>
              <a:t>How many subsets?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A"/>
                </a:solidFill>
                <a:latin typeface="Aptos"/>
              </a:defRPr>
            </a:pPr>
            <a:r>
              <a:t>Increasing n reduces the domain disparity per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892040"/>
            <a:ext cx="4297680" cy="9144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2415" y="4197096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519936" y="4078224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997456" y="3895344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474976" y="3694176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52496" y="3493008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430015" y="3346704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907536" y="3236976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85056" y="3291840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40096" y="3438144"/>
            <a:ext cx="109728" cy="109728"/>
          </a:xfrm>
          <a:prstGeom prst="ellipse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97280" y="4251960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574800" y="4133087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052320" y="3950208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529840" y="3749039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007360" y="3547872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484880" y="3401568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962399" y="3291840"/>
            <a:ext cx="47752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9920" y="3346704"/>
            <a:ext cx="955040" cy="18288"/>
          </a:xfrm>
          <a:prstGeom prst="rect">
            <a:avLst/>
          </a:prstGeom>
          <a:solidFill>
            <a:srgbClr val="3D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5074920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3D69D6"/>
                </a:solidFill>
                <a:latin typeface="Aptos"/>
              </a:defRPr>
            </a:pPr>
            <a:r>
              <a:t>Best reported: TRBA n=7 (92.83%)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413248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5C697A"/>
                </a:solidFill>
                <a:latin typeface="Aptos"/>
              </a:defRPr>
            </a:pPr>
            <a:r>
              <a:t>ABINet peaks at n=5 (93.17%).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645920"/>
            <a:ext cx="5349240" cy="416052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46520" y="1874519"/>
            <a:ext cx="960120" cy="310896"/>
          </a:xfrm>
          <a:prstGeom prst="roundRect">
            <a:avLst/>
          </a:prstGeom>
          <a:solidFill>
            <a:srgbClr val="FC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19672" y="1911095"/>
            <a:ext cx="81381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EB705D"/>
                </a:solidFill>
                <a:latin typeface="Aptos"/>
              </a:defRPr>
            </a:pPr>
            <a:r>
              <a:t>ABLATION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30428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82230"/>
                </a:solidFill>
                <a:latin typeface="Aptos"/>
              </a:defRPr>
            </a:pPr>
            <a:r>
              <a:t>Why use both domains?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278892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A"/>
                </a:solidFill>
                <a:latin typeface="Aptos"/>
              </a:defRPr>
            </a:pPr>
            <a:r>
              <a:t>β controls the balance in HDGE. β=0 uses only source-side information.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3794760"/>
            <a:ext cx="1965960" cy="960120"/>
          </a:xfrm>
          <a:prstGeom prst="round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3977639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3D69D6"/>
                </a:solidFill>
                <a:latin typeface="Aptos"/>
              </a:defRPr>
            </a:pPr>
            <a:r>
              <a:t>β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27939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2230"/>
                </a:solidFill>
                <a:latin typeface="Aptos"/>
              </a:defRPr>
            </a:pPr>
            <a:r>
              <a:t>TRBA 92.41%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32520" y="3794760"/>
            <a:ext cx="1965960" cy="96012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32520" y="3977639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8A699"/>
                </a:solidFill>
                <a:latin typeface="Aptos"/>
              </a:defRPr>
            </a:pPr>
            <a:r>
              <a:t>β = 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427939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2230"/>
                </a:solidFill>
                <a:latin typeface="Aptos"/>
              </a:defRPr>
            </a:pPr>
            <a:r>
              <a:t>TRBA 92.61%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074920"/>
            <a:ext cx="4663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8A699"/>
                </a:solidFill>
                <a:latin typeface="Aptos"/>
              </a:defRPr>
            </a:pPr>
            <a:r>
              <a:t>Both source + target directions give the stronger reported result.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10 • QUALITATIVE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The model gets better pseudo-labels as it adapts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Examples in the paper show how progressive rounds help on increasingly difficult target samples.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59" y="2029968"/>
            <a:ext cx="91440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1" y="2066544"/>
            <a:ext cx="76809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182230"/>
                </a:solidFill>
                <a:latin typeface="Aptos"/>
              </a:defRPr>
            </a:pPr>
            <a:r>
              <a:t>PEBBLES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93008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StrDAHDGE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813048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8A699"/>
                </a:solidFill>
                <a:latin typeface="Aptos"/>
              </a:defRPr>
            </a:pPr>
            <a:r>
              <a:t>PEBBLES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28800"/>
            <a:ext cx="2514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0" y="2029968"/>
            <a:ext cx="91440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30752" y="2066544"/>
            <a:ext cx="76809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6060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26080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EB705D"/>
                </a:solidFill>
                <a:latin typeface="Aptos"/>
              </a:defRPr>
            </a:pPr>
            <a:r>
              <a:t>GRMEL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493008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StrDAHDGE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813048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8A699"/>
                </a:solidFill>
                <a:latin typeface="Aptos"/>
              </a:defRPr>
            </a:pPr>
            <a:r>
              <a:t>CAMEL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828800"/>
            <a:ext cx="2514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92240" y="2029968"/>
            <a:ext cx="91440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65392" y="2066544"/>
            <a:ext cx="76809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Round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060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926080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EB705D"/>
                </a:solidFill>
                <a:latin typeface="Aptos"/>
              </a:defRPr>
            </a:pPr>
            <a:r>
              <a:t>DISTNCT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493008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StrDAHDGE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13048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8A699"/>
                </a:solidFill>
                <a:latin typeface="Aptos"/>
              </a:defRPr>
            </a:pPr>
            <a:r>
              <a:t>DISTRICT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828800"/>
            <a:ext cx="25146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326880" y="2029968"/>
            <a:ext cx="914400" cy="310896"/>
          </a:xfrm>
          <a:prstGeom prst="roundRect">
            <a:avLst/>
          </a:prstGeom>
          <a:solidFill>
            <a:srgbClr val="E8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00032" y="2066544"/>
            <a:ext cx="76809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Round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606040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926080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EB705D"/>
                </a:solidFill>
                <a:latin typeface="Aptos"/>
              </a:defRPr>
            </a:pPr>
            <a:r>
              <a:t>AUSTRAUA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493008"/>
            <a:ext cx="2148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C697A"/>
                </a:solidFill>
                <a:latin typeface="Aptos"/>
              </a:defRPr>
            </a:pPr>
            <a:r>
              <a:t>StrDAHDGE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813048"/>
            <a:ext cx="2148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28A699"/>
                </a:solidFill>
                <a:latin typeface="Aptos"/>
              </a:defRPr>
            </a:pPr>
            <a:r>
              <a:t>AUSTRALIA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900" b="1">
                <a:solidFill>
                  <a:srgbClr val="182230"/>
                </a:solidFill>
                <a:latin typeface="Aptos"/>
              </a:defRPr>
            </a:pPr>
            <a:r>
              <a:t>The paper's qualitative examples support the mechanism: better adaptation → cleaner pseudo-labels.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49039" y="5486400"/>
            <a:ext cx="1280160" cy="310896"/>
          </a:xfrm>
          <a:prstGeom prst="roundRect">
            <a:avLst/>
          </a:prstGeom>
          <a:solidFill>
            <a:srgbClr val="E5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22191" y="5522976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28A699"/>
                </a:solidFill>
                <a:latin typeface="Aptos"/>
              </a:defRPr>
            </a:pPr>
            <a:r>
              <a:t>easier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59" y="5486400"/>
            <a:ext cx="1280160" cy="310896"/>
          </a:xfrm>
          <a:prstGeom prst="roundRect">
            <a:avLst/>
          </a:prstGeom>
          <a:solidFill>
            <a:srgbClr val="FC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68112" y="5522976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3D69D6"/>
                </a:solidFill>
                <a:latin typeface="Aptos"/>
              </a:defRPr>
            </a:pPr>
            <a:r>
              <a:t>medium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79" y="5486400"/>
            <a:ext cx="1280160" cy="310896"/>
          </a:xfrm>
          <a:prstGeom prst="roundRect">
            <a:avLst/>
          </a:prstGeom>
          <a:solidFill>
            <a:srgbClr val="FC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14031" y="5522976"/>
            <a:ext cx="1133856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EB705D"/>
                </a:solidFill>
                <a:latin typeface="Aptos"/>
              </a:defRPr>
            </a:pPr>
            <a:r>
              <a:t>harder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3D69D6"/>
                </a:solidFill>
                <a:latin typeface="Aptos"/>
              </a:defRPr>
            </a:pPr>
            <a:r>
              <a:t>11 •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900" b="1">
                <a:solidFill>
                  <a:srgbClr val="182230"/>
                </a:solidFill>
                <a:latin typeface="Aptos"/>
              </a:defRPr>
            </a:pPr>
            <a:r>
              <a:t>What should we remember from this paper?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1704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C697A"/>
                </a:solidFill>
                <a:latin typeface="Aptos"/>
              </a:defRPr>
            </a:pPr>
            <a:r>
              <a:t>A concise presentation summary.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337560" cy="2423160"/>
          </a:xfrm>
          <a:prstGeom prst="roundRect">
            <a:avLst/>
          </a:prstGeom>
          <a:solidFill>
            <a:srgbClr val="E8EFFC"/>
          </a:solidFill>
          <a:ln>
            <a:solidFill>
              <a:srgbClr val="3D6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299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3D69D6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82230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788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A"/>
                </a:solidFill>
                <a:latin typeface="Aptos"/>
              </a:defRPr>
            </a:pPr>
            <a:r>
              <a:t>Estimate how each target sample relates to the source/target domains.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783080"/>
            <a:ext cx="3337560" cy="2423160"/>
          </a:xfrm>
          <a:prstGeom prst="roundRect">
            <a:avLst/>
          </a:prstGeom>
          <a:solidFill>
            <a:srgbClr val="E5F7F4"/>
          </a:solidFill>
          <a:ln>
            <a:solidFill>
              <a:srgbClr val="28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60" y="20299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28A699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4203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82230"/>
                </a:solidFill>
                <a:latin typeface="Aptos"/>
              </a:defRPr>
            </a:pPr>
            <a:r>
              <a:t>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108960"/>
            <a:ext cx="2788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A"/>
                </a:solidFill>
                <a:latin typeface="Aptos"/>
              </a:defRPr>
            </a:pPr>
            <a:r>
              <a:t>Sort target images into subsets with progressively increasing domain gaps.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783080"/>
            <a:ext cx="3337560" cy="2423160"/>
          </a:xfrm>
          <a:prstGeom prst="roundRect">
            <a:avLst/>
          </a:prstGeom>
          <a:solidFill>
            <a:srgbClr val="FCEBE7"/>
          </a:solidFill>
          <a:ln>
            <a:solidFill>
              <a:srgbClr val="EB70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0" y="20299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EB705D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542032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82230"/>
                </a:solidFill>
                <a:latin typeface="Aptos"/>
              </a:defRPr>
            </a:pPr>
            <a:r>
              <a:t>Adapt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108960"/>
            <a:ext cx="2788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C697A"/>
                </a:solidFill>
                <a:latin typeface="Aptos"/>
              </a:defRPr>
            </a:pPr>
            <a:r>
              <a:t>Self-train sequentially so the model learns from easier to harder target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617720"/>
            <a:ext cx="1014984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40" y="4892040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182230"/>
                </a:solidFill>
                <a:latin typeface="Aptos"/>
              </a:defRPr>
            </a:pPr>
            <a:r>
              <a:t>Domain gap ↓ per step   →   pseudo-label quality ↑   →   recognition accuracy 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858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ADC4EB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Aptos"/>
              </a:defRPr>
            </a:pPr>
            <a: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063240"/>
            <a:ext cx="9784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500" b="0">
                <a:solidFill>
                  <a:srgbClr val="ADC4EB"/>
                </a:solidFill>
                <a:latin typeface="Aptos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166360"/>
            <a:ext cx="7772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Stratified Domain Adaptation</a:t>
            </a:r>
            <a:br/>
            <a:r>
              <a:t>A Progressive Self-Training Approach for Scene Text Recognition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5577840"/>
            <a:ext cx="219456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300" b="1">
                <a:solidFill>
                  <a:srgbClr val="ADC4EB"/>
                </a:solidFill>
                <a:latin typeface="Aptos"/>
              </a:defRPr>
            </a:pPr>
            <a:r>
              <a:rPr lang="en-US" dirty="0" err="1"/>
              <a:t>VisionHeart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21792" y="6519672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C697A"/>
                </a:solidFill>
                <a:latin typeface="Aptos"/>
              </a:defRPr>
            </a:pPr>
            <a:r>
              <a:t>STRDA • WACV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9672"/>
            <a:ext cx="502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5C697A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1001</Words>
  <Application>Microsoft Office PowerPoint</Application>
  <PresentationFormat>Widescreen</PresentationFormat>
  <Paragraphs>223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samiru nuwanaka</cp:lastModifiedBy>
  <cp:revision>2</cp:revision>
  <dcterms:created xsi:type="dcterms:W3CDTF">2013-01-27T09:14:16Z</dcterms:created>
  <dcterms:modified xsi:type="dcterms:W3CDTF">2026-09-08T11:31:21Z</dcterms:modified>
  <cp:category/>
</cp:coreProperties>
</file>