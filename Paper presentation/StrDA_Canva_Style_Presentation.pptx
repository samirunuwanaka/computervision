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48640"/>
            <a:ext cx="1417320" cy="1417320"/>
          </a:xfrm>
          <a:prstGeom prst="ellipse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1143000"/>
            <a:ext cx="914400" cy="914400"/>
          </a:xfrm>
          <a:prstGeom prst="ellipse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1508760"/>
            <a:ext cx="685800" cy="685800"/>
          </a:xfrm>
          <a:prstGeom prst="ellipse">
            <a:avLst/>
          </a:prstGeom>
          <a:solidFill>
            <a:srgbClr val="F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141732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676656"/>
            <a:ext cx="1271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WACV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9875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182230"/>
                </a:solidFill>
                <a:latin typeface="Aptos"/>
              </a:defRPr>
            </a:pPr>
            <a:r>
              <a:t>Stratified Domain</a:t>
            </a:r>
            <a:br/>
            <a:r>
              <a:t>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0">
                <a:solidFill>
                  <a:srgbClr val="3D69D6"/>
                </a:solidFill>
                <a:latin typeface="Aptos"/>
              </a:defRPr>
            </a:pPr>
            <a:r>
              <a:t>A Progressive Self-Training Approach</a:t>
            </a:r>
            <a:br/>
            <a:r>
              <a:t>for Scene Text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C697A"/>
                </a:solidFill>
                <a:latin typeface="Aptos"/>
              </a:defRPr>
            </a:pPr>
            <a:r>
              <a:t>Kha Nhat Le • Hoang-Tuan Nguyen • Hung Tien Tran • Thanh Duc 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81728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University of Information Technology, VNU-HCM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8640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4184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69D6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88920" y="5632704"/>
            <a:ext cx="384048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548640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564184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8A699"/>
                </a:solidFill>
                <a:latin typeface="Aptos"/>
              </a:defRPr>
            </a:pPr>
            <a:r>
              <a:t>EASY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303520" y="5632704"/>
            <a:ext cx="384048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548640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564184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EB705D"/>
                </a:solidFill>
                <a:latin typeface="Aptos"/>
              </a:defRPr>
            </a:pPr>
            <a:r>
              <a:t>HARD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5632704"/>
            <a:ext cx="384048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548640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7D5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564184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7D5EBE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4681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82230"/>
                </a:solidFill>
                <a:latin typeface="Aptos"/>
              </a:defRPr>
            </a:pPr>
            <a:r>
              <a:t>Presented by</a:t>
            </a:r>
            <a:br/>
            <a:r>
              <a:t>Samiru Nuwanaka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01 •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Why does scene text recognition struggle in the real world?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The paper focuses on the gap between labeled synthetic data and unlabeled real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246120" cy="3154680"/>
          </a:xfrm>
          <a:prstGeom prst="round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109728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950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Synthetic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560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C697A"/>
                </a:solidFill>
                <a:latin typeface="Aptos"/>
              </a:defRPr>
            </a:pPr>
            <a:r>
              <a:t>Large amounts of training data</a:t>
            </a:r>
            <a:br/>
            <a:r>
              <a:t>+ labels are available.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8A699"/>
                </a:solidFill>
                <a:latin typeface="Aptos"/>
              </a:defRPr>
            </a:pPr>
            <a:r>
              <a:t>✓ Labeled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737360"/>
            <a:ext cx="3246120" cy="3154680"/>
          </a:xfrm>
          <a:prstGeom prst="roundRect">
            <a:avLst/>
          </a:prstGeom>
          <a:solidFill>
            <a:srgbClr val="FCEBE7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1965960"/>
            <a:ext cx="109728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002536"/>
            <a:ext cx="950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705D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Real-world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63240"/>
            <a:ext cx="2560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C697A"/>
                </a:solidFill>
                <a:latin typeface="Aptos"/>
              </a:defRPr>
            </a:pPr>
            <a:r>
              <a:t>More realistic—but labels</a:t>
            </a:r>
            <a:br/>
            <a:r>
              <a:t>are expensive to obtain.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976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B705D"/>
                </a:solidFill>
                <a:latin typeface="Aptos"/>
              </a:defRPr>
            </a:pPr>
            <a:r>
              <a:t>✕ Unlabeled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05740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B705D"/>
                </a:solidFill>
                <a:latin typeface="Aptos"/>
              </a:defRPr>
            </a:pPr>
            <a:r>
              <a:t>DOMAIN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514600"/>
            <a:ext cx="4069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182230"/>
                </a:solidFill>
                <a:latin typeface="Aptos"/>
              </a:defRPr>
            </a:pPr>
            <a:r>
              <a:t>Synthetic  → 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52044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C697A"/>
                </a:solidFill>
                <a:latin typeface="Aptos"/>
              </a:defRPr>
            </a:pPr>
            <a:r>
              <a:t>A source-trained model can lose accuracy when the data distribution changes.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94960" y="4480560"/>
            <a:ext cx="502920" cy="274320"/>
          </a:xfrm>
          <a:prstGeom prst="rightArrow">
            <a:avLst/>
          </a:prstGeom>
          <a:solidFill>
            <a:srgbClr val="EB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493776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A699"/>
                </a:solidFill>
                <a:latin typeface="Aptos"/>
              </a:defRPr>
            </a:pPr>
            <a:r>
              <a:t>Goal: adapt without human annotation of the target domain.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02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Vanilla self-training can amplify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The model predicts labels for unlabeled target images and then learns from those predictions.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2230"/>
                </a:solidFill>
                <a:latin typeface="Aptos"/>
              </a:defRPr>
            </a:pPr>
            <a:r>
              <a:t>Source-trained</a:t>
            </a:r>
            <a:br/>
            <a:r>
              <a:t>model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44368" y="2130552"/>
            <a:ext cx="438912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39" y="17373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D5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01168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2230"/>
                </a:solidFill>
                <a:latin typeface="Aptos"/>
              </a:defRPr>
            </a:pPr>
            <a:r>
              <a:t>All target</a:t>
            </a:r>
            <a:br/>
            <a:r>
              <a:t>images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33288" y="2130552"/>
            <a:ext cx="438912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59" y="17373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201168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2230"/>
                </a:solidFill>
                <a:latin typeface="Aptos"/>
              </a:defRPr>
            </a:pPr>
            <a:r>
              <a:t>Pseudo-</a:t>
            </a:r>
            <a:br/>
            <a:r>
              <a:t>labels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22208" y="2130552"/>
            <a:ext cx="438912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73736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01168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82230"/>
                </a:solidFill>
                <a:latin typeface="Aptos"/>
              </a:defRPr>
            </a:pPr>
            <a:r>
              <a:t>Retrain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82230"/>
                </a:solidFill>
                <a:latin typeface="Aptos"/>
              </a:defRPr>
            </a:pPr>
            <a:r>
              <a:t>When the target sample is far from the source domain…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97A"/>
                </a:solidFill>
                <a:latin typeface="Aptos"/>
              </a:defRPr>
            </a:pPr>
            <a:r>
              <a:t>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40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182230"/>
                </a:solidFill>
                <a:latin typeface="Aptos"/>
              </a:defRPr>
            </a:pPr>
            <a:r>
              <a:t>AUSTRALIA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97A"/>
                </a:solidFill>
                <a:latin typeface="Aptos"/>
              </a:defRPr>
            </a:pPr>
            <a:r>
              <a:t>PREDICTED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702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EB705D"/>
                </a:solidFill>
                <a:latin typeface="Aptos"/>
              </a:defRPr>
            </a:pPr>
            <a:r>
              <a:t>AUSTRAUA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9136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97A"/>
                </a:solidFill>
                <a:latin typeface="Aptos"/>
              </a:defRPr>
            </a:pPr>
            <a: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840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182230"/>
                </a:solidFill>
                <a:latin typeface="Aptos"/>
              </a:defRPr>
            </a:pPr>
            <a:r>
              <a:t>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43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97A"/>
                </a:solidFill>
                <a:latin typeface="Aptos"/>
              </a:defRPr>
            </a:pPr>
            <a:r>
              <a:t>PREDICTED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2702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EB705D"/>
                </a:solidFill>
                <a:latin typeface="Aptos"/>
              </a:defRPr>
            </a:pPr>
            <a:r>
              <a:t>DISTNCT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03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136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97A"/>
                </a:solidFill>
                <a:latin typeface="Aptos"/>
              </a:defRPr>
            </a:pPr>
            <a:r>
              <a:t>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40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182230"/>
                </a:solidFill>
                <a:latin typeface="Aptos"/>
              </a:defRPr>
            </a:pPr>
            <a:r>
              <a:t>CAMEL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43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97A"/>
                </a:solidFill>
                <a:latin typeface="Aptos"/>
              </a:defRPr>
            </a:pPr>
            <a:r>
              <a:t>PREDICTED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2702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EB705D"/>
                </a:solidFill>
                <a:latin typeface="Aptos"/>
              </a:defRPr>
            </a:pPr>
            <a:r>
              <a:t>GRMEL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B705D"/>
                </a:solidFill>
                <a:latin typeface="Aptos"/>
              </a:defRPr>
            </a:pPr>
            <a:r>
              <a:t>If incorrect pseudo-labels are reused for training, errors can reinforce themselves.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03 • PROPOSED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StrDA: cross the domain gap in smaller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Instead of adapting to all target images at once, order them by how close they are to the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1307592" cy="960120"/>
          </a:xfrm>
          <a:prstGeom prst="round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2075688"/>
            <a:ext cx="11978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46504" y="2185416"/>
            <a:ext cx="22860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39112" y="1874519"/>
            <a:ext cx="1307592" cy="96012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3976" y="2075688"/>
            <a:ext cx="11978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T₁</a:t>
            </a:r>
            <a:br/>
            <a:r>
              <a:t>closest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74136" y="2185416"/>
            <a:ext cx="22860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66744" y="1874519"/>
            <a:ext cx="1307592" cy="96012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075688"/>
            <a:ext cx="11978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T₂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01768" y="2185416"/>
            <a:ext cx="22860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94376" y="1874519"/>
            <a:ext cx="1307592" cy="96012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075688"/>
            <a:ext cx="11978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T₃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29400" y="2185416"/>
            <a:ext cx="22860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22008" y="1874519"/>
            <a:ext cx="130759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5C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2075688"/>
            <a:ext cx="11978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…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57032" y="2185416"/>
            <a:ext cx="22860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9640" y="1874519"/>
            <a:ext cx="1307592" cy="960120"/>
          </a:xfrm>
          <a:prstGeom prst="roundRect">
            <a:avLst/>
          </a:prstGeom>
          <a:solidFill>
            <a:srgbClr val="FCEBE7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4" y="2075688"/>
            <a:ext cx="11978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Tₙ</a:t>
            </a:r>
            <a:br/>
            <a:r>
              <a:t>hardest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84663" y="2185416"/>
            <a:ext cx="22860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77272" y="1874519"/>
            <a:ext cx="130759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7D5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32136" y="2075688"/>
            <a:ext cx="11978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429000"/>
            <a:ext cx="10241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6850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3D69D6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09651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82230"/>
                </a:solidFill>
                <a:latin typeface="Aptos"/>
              </a:defRPr>
            </a:pPr>
            <a:r>
              <a:t>Each training round sees a smaller domain shift.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091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C697A"/>
                </a:solidFill>
                <a:latin typeface="Aptos"/>
              </a:defRPr>
            </a:pPr>
            <a:r>
              <a:t>The model improves before it meets the harder target samples.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04 •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Two stages make StrDA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91440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6537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82230"/>
                </a:solidFill>
                <a:latin typeface="Aptos"/>
              </a:defRPr>
            </a:pPr>
            <a:r>
              <a:t>Domain Stratifying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960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D5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82696"/>
            <a:ext cx="886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82230"/>
                </a:solidFill>
                <a:latin typeface="Aptos"/>
              </a:defRPr>
            </a:pPr>
            <a:r>
              <a:t>Target</a:t>
            </a:r>
            <a:br/>
            <a:r>
              <a:t>images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92808" y="3383280"/>
            <a:ext cx="146304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84832" y="3063240"/>
            <a:ext cx="960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3282696"/>
            <a:ext cx="886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82230"/>
                </a:solidFill>
                <a:latin typeface="Aptos"/>
              </a:defRPr>
            </a:pPr>
            <a:r>
              <a:t>HDGE</a:t>
            </a:r>
            <a:br/>
            <a:r>
              <a:t>score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3383280"/>
            <a:ext cx="146304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55264" y="3063240"/>
            <a:ext cx="960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282696"/>
            <a:ext cx="886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82230"/>
                </a:solidFill>
                <a:latin typeface="Aptos"/>
              </a:defRPr>
            </a:pPr>
            <a:r>
              <a:t>Sort by dᵢ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33672" y="3383280"/>
            <a:ext cx="146304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25696" y="3063240"/>
            <a:ext cx="960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3282696"/>
            <a:ext cx="8869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82230"/>
                </a:solidFill>
                <a:latin typeface="Aptos"/>
              </a:defRPr>
            </a:pPr>
            <a:r>
              <a:t>Partition</a:t>
            </a:r>
            <a:br/>
            <a:r>
              <a:t>T₁…Tₙ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C697A"/>
                </a:solidFill>
                <a:latin typeface="Aptos"/>
              </a:defRPr>
            </a:pPr>
            <a:r>
              <a:t>Output: ordered target subsets</a:t>
            </a:r>
            <a:br/>
            <a:r>
              <a:t>with progressively larger domain gaps.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0020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1828800"/>
            <a:ext cx="914400" cy="310896"/>
          </a:xfrm>
          <a:prstGeom prst="roundRect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86537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8A699"/>
                </a:solidFill>
                <a:latin typeface="Aptos"/>
              </a:defRPr>
            </a:pPr>
            <a: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317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82230"/>
                </a:solidFill>
                <a:latin typeface="Aptos"/>
              </a:defRPr>
            </a:pPr>
            <a:r>
              <a:t>Progressive Self-Training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063240"/>
            <a:ext cx="914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282696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2230"/>
                </a:solidFill>
                <a:latin typeface="Aptos"/>
              </a:defRPr>
            </a:pPr>
            <a:r>
              <a:t>M₀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516368" y="3383280"/>
            <a:ext cx="13716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99248" y="3063240"/>
            <a:ext cx="914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3282696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2230"/>
                </a:solidFill>
                <a:latin typeface="Aptos"/>
              </a:defRPr>
            </a:pPr>
            <a:r>
              <a:t>T₁</a:t>
            </a:r>
            <a:br/>
            <a:r>
              <a:t>→ M₁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631936" y="3383280"/>
            <a:ext cx="13716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814816" y="3063240"/>
            <a:ext cx="914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42248" y="3282696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2230"/>
                </a:solidFill>
                <a:latin typeface="Aptos"/>
              </a:defRPr>
            </a:pPr>
            <a:r>
              <a:t>T₂</a:t>
            </a:r>
            <a:br/>
            <a:r>
              <a:t>→ M₂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47504" y="3383280"/>
            <a:ext cx="13716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30384" y="3063240"/>
            <a:ext cx="914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7815" y="3282696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2230"/>
                </a:solidFill>
                <a:latin typeface="Aptos"/>
              </a:defRPr>
            </a:pPr>
            <a:r>
              <a:t>…</a:t>
            </a:r>
            <a:br/>
            <a:r>
              <a:t>→ Mₙ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C697A"/>
                </a:solidFill>
                <a:latin typeface="Aptos"/>
              </a:defRPr>
            </a:pPr>
            <a:r>
              <a:t>Output: a model that has gradually</a:t>
            </a:r>
            <a:br/>
            <a:r>
              <a:t>adapted toward the target domain.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05 • 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HDGE decides which target samples should come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The Harmonic Domain Gap Estimator combines source-side and target-side OOD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749039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230"/>
                </a:solidFill>
                <a:latin typeface="Aptos"/>
              </a:defRPr>
            </a:pPr>
            <a:r>
              <a:t>Two domain views</a:t>
            </a:r>
          </a:p>
        </p:txBody>
      </p:sp>
      <p:sp>
        <p:nvSpPr>
          <p:cNvPr id="7" name="Oval 6"/>
          <p:cNvSpPr/>
          <p:nvPr/>
        </p:nvSpPr>
        <p:spPr>
          <a:xfrm>
            <a:off x="914399" y="219456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2697479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69D6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9" name="Oval 8"/>
          <p:cNvSpPr/>
          <p:nvPr/>
        </p:nvSpPr>
        <p:spPr>
          <a:xfrm>
            <a:off x="2651760" y="219456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5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697479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7D5EBE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48716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82230"/>
                </a:solidFill>
                <a:latin typeface="Aptos"/>
              </a:defRPr>
            </a:pPr>
            <a:r>
              <a:t>xᵢ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C697A"/>
                </a:solidFill>
                <a:latin typeface="Aptos"/>
              </a:defRPr>
            </a:pPr>
            <a:r>
              <a:t>dS(xᵢ)  →  source-side gap</a:t>
            </a:r>
            <a:br/>
            <a:r>
              <a:t>dT(xᵢ)  →  target-side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8A699"/>
                </a:solidFill>
                <a:latin typeface="Aptos"/>
              </a:defRPr>
            </a:pPr>
            <a:r>
              <a:t>Both signals are combined into dᵢ.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600200"/>
            <a:ext cx="6812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874519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8A699"/>
                </a:solidFill>
                <a:latin typeface="Aptos"/>
              </a:defRPr>
            </a:pPr>
            <a:r>
              <a:t>HDGE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423160"/>
            <a:ext cx="6263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82230"/>
                </a:solidFill>
                <a:latin typeface="Cambria Math"/>
              </a:defRPr>
            </a:pPr>
            <a:r>
              <a:t>dᵢ =  ((1 + β²) dS dT)</a:t>
            </a:r>
            <a:br/>
            <a:r>
              <a:t>       / (β² dS + dT)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520440"/>
            <a:ext cx="5897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3D69D6"/>
                </a:solidFill>
                <a:latin typeface="Aptos"/>
              </a:defRPr>
            </a:pPr>
            <a:r>
              <a:t>Lower dᵢ  →  closer to the source  →  adapt earlier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069080"/>
            <a:ext cx="5897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C697A"/>
                </a:solidFill>
                <a:latin typeface="Aptos"/>
              </a:defRPr>
            </a:pPr>
            <a:r>
              <a:t>The paper uses 0 ≤ β &lt; 1 and biases the ordering toward smaller source-side distance.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5166360"/>
            <a:ext cx="269748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5202936"/>
            <a:ext cx="2551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SOURCE-LIKE →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06 • HOW HDGE IS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Why does the discriminator know the domain gap?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The paper trains two source/target mapping directions with adversarial discriminators.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874519" cy="914400"/>
          </a:xfrm>
          <a:prstGeom prst="round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D69D6"/>
                </a:solidFill>
                <a:latin typeface="Aptos"/>
              </a:defRPr>
            </a:pPr>
            <a:r>
              <a:t>SOURCE 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057400"/>
            <a:ext cx="1874519" cy="914400"/>
          </a:xfrm>
          <a:prstGeom prst="roundRect">
            <a:avLst/>
          </a:prstGeom>
          <a:solidFill>
            <a:srgbClr val="FCEBE7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2304288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EB705D"/>
                </a:solidFill>
                <a:latin typeface="Aptos"/>
              </a:defRPr>
            </a:pPr>
            <a:r>
              <a:t>TARGET 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08760"/>
            <a:ext cx="2103120" cy="91440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5564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8A699"/>
                </a:solidFill>
                <a:latin typeface="Aptos"/>
              </a:defRPr>
            </a:pPr>
            <a:r>
              <a:t>Gₜ : S →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246120"/>
            <a:ext cx="2103120" cy="91440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49300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8A699"/>
                </a:solidFill>
                <a:latin typeface="Aptos"/>
              </a:defRPr>
            </a:pPr>
            <a:r>
              <a:t>Gₛ : T →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5087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75564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3D69D6"/>
                </a:solidFill>
                <a:latin typeface="Aptos"/>
              </a:defRPr>
            </a:pPr>
            <a:r>
              <a:t>Dₜ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246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49300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EB705D"/>
                </a:solidFill>
                <a:latin typeface="Aptos"/>
              </a:defRPr>
            </a:pPr>
            <a:r>
              <a:t>Dₛ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51760" y="2331720"/>
            <a:ext cx="457200" cy="274320"/>
          </a:xfrm>
          <a:prstGeom prst="rightArrow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349240" y="1874519"/>
            <a:ext cx="228600" cy="274320"/>
          </a:xfrm>
          <a:prstGeom prst="rightArrow">
            <a:avLst/>
          </a:prstGeom>
          <a:solidFill>
            <a:srgbClr val="28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150608" y="1874519"/>
            <a:ext cx="320040" cy="274320"/>
          </a:xfrm>
          <a:prstGeom prst="rightArrow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915400" y="2331720"/>
            <a:ext cx="548640" cy="274320"/>
          </a:xfrm>
          <a:prstGeom prst="rightArrow">
            <a:avLst/>
          </a:prstGeom>
          <a:solidFill>
            <a:srgbClr val="28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961120" y="3611880"/>
            <a:ext cx="502920" cy="274320"/>
          </a:xfrm>
          <a:prstGeom prst="rightArrow">
            <a:avLst/>
          </a:prstGeom>
          <a:solidFill>
            <a:srgbClr val="28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309360" y="3611880"/>
            <a:ext cx="411480" cy="274320"/>
          </a:xfrm>
          <a:prstGeom prst="rightArrow">
            <a:avLst/>
          </a:prstGeom>
          <a:solidFill>
            <a:srgbClr val="EB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3840480" y="3611880"/>
            <a:ext cx="502920" cy="274320"/>
          </a:xfrm>
          <a:prstGeom prst="rightArrow">
            <a:avLst/>
          </a:prstGeom>
          <a:solidFill>
            <a:srgbClr val="28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8006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After adversarial training, Dₛ and Dₜ provide OOD-level signals used to compute the HDGE score.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07 •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Progressive self-training turns predictions into 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Each round uses the current model to pseudo-label the next target subset.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43000" cy="868680"/>
          </a:xfrm>
          <a:prstGeom prst="round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M₀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73352" y="2121408"/>
            <a:ext cx="18288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38528" y="1828800"/>
            <a:ext cx="1143000" cy="86868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5104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T₁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121408"/>
            <a:ext cx="18288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4136" y="1828800"/>
            <a:ext cx="1143000" cy="86868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M₁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44568" y="2121408"/>
            <a:ext cx="18288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9744" y="1828800"/>
            <a:ext cx="1143000" cy="86868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T₂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0176" y="2121408"/>
            <a:ext cx="18288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1828800"/>
            <a:ext cx="1143000" cy="86868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M₂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15783" y="2121408"/>
            <a:ext cx="18288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0" y="1828800"/>
            <a:ext cx="1143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5C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…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51392" y="2121408"/>
            <a:ext cx="18288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16568" y="1828800"/>
            <a:ext cx="1143000" cy="868680"/>
          </a:xfrm>
          <a:prstGeom prst="roundRect">
            <a:avLst/>
          </a:prstGeom>
          <a:solidFill>
            <a:srgbClr val="FCEBE7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Tₙ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287000" y="2121408"/>
            <a:ext cx="182880" cy="274320"/>
          </a:xfrm>
          <a:prstGeom prst="rightArrow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52176" y="1828800"/>
            <a:ext cx="1143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7D5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88752" y="2075688"/>
            <a:ext cx="10698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82230"/>
                </a:solidFill>
                <a:latin typeface="Aptos"/>
              </a:defRPr>
            </a:pPr>
            <a:r>
              <a:t>Mₙ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33756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361188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82230"/>
                </a:solidFill>
                <a:latin typeface="Aptos"/>
              </a:defRPr>
            </a:pPr>
            <a:r>
              <a:t>Pseudo-label + 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096512"/>
            <a:ext cx="4297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C697A"/>
                </a:solidFill>
                <a:latin typeface="Aptos"/>
              </a:defRPr>
            </a:pPr>
            <a:r>
              <a:t>The model predicts a label for each target image and records a confidence score.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337560"/>
            <a:ext cx="4892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61188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82230"/>
                </a:solidFill>
                <a:latin typeface="Aptos"/>
              </a:defRPr>
            </a:pPr>
            <a:r>
              <a:t>Adaptive training objective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41648"/>
            <a:ext cx="4297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C697A"/>
                </a:solidFill>
                <a:latin typeface="Aptos"/>
              </a:defRPr>
            </a:pPr>
            <a:r>
              <a:t>Source loss and target pseudo-label loss are weighted using the subset's mean confidence mᵢ.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6235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8A699"/>
                </a:solidFill>
                <a:latin typeface="Aptos"/>
              </a:defRPr>
            </a:pPr>
            <a:r>
              <a:t>High-confidence target supervision gets a stronger role as adaptation progresses.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08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StrDAHDGE improves all three tested STR backbones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Word accuracy averaged over six standard scene-text benchmarks.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047488"/>
            <a:ext cx="685800" cy="301752"/>
          </a:xfrm>
          <a:prstGeom prst="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27448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69D6"/>
                </a:solidFill>
                <a:latin typeface="Aptos"/>
              </a:defRPr>
            </a:pPr>
            <a:r>
              <a:t>84.4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4937759"/>
            <a:ext cx="685800" cy="411479"/>
          </a:xfrm>
          <a:prstGeom prst="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46177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8A699"/>
                </a:solidFill>
                <a:latin typeface="Aptos"/>
              </a:defRPr>
            </a:pPr>
            <a:r>
              <a:t>86.0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CRNN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4594859"/>
            <a:ext cx="685800" cy="754380"/>
          </a:xfrm>
          <a:prstGeom prst="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274820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69D6"/>
                </a:solidFill>
                <a:latin typeface="Aptos"/>
              </a:defRPr>
            </a:pPr>
            <a:r>
              <a:t>91.0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4471416"/>
            <a:ext cx="685800" cy="877823"/>
          </a:xfrm>
          <a:prstGeom prst="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415137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8A699"/>
                </a:solidFill>
                <a:latin typeface="Aptos"/>
              </a:defRPr>
            </a:pPr>
            <a:r>
              <a:t>92.8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4864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TRBA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539996"/>
            <a:ext cx="685800" cy="809243"/>
          </a:xfrm>
          <a:prstGeom prst="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21995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D69D6"/>
                </a:solidFill>
                <a:latin typeface="Aptos"/>
              </a:defRPr>
            </a:pPr>
            <a:r>
              <a:t>91.8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443983"/>
            <a:ext cx="685800" cy="905256"/>
          </a:xfrm>
          <a:prstGeom prst="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4123944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8A699"/>
                </a:solidFill>
                <a:latin typeface="Aptos"/>
              </a:defRPr>
            </a:pPr>
            <a:r>
              <a:t>93.2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4864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2230"/>
                </a:solidFill>
                <a:latin typeface="Aptos"/>
              </a:defRPr>
            </a:pPr>
            <a:r>
              <a:t>ABINet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1691640"/>
            <a:ext cx="118872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1728216"/>
            <a:ext cx="1042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691640"/>
            <a:ext cx="1417320" cy="310896"/>
          </a:xfrm>
          <a:prstGeom prst="roundRect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728216"/>
            <a:ext cx="1271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8A699"/>
                </a:solidFill>
                <a:latin typeface="Aptos"/>
              </a:defRPr>
            </a:pPr>
            <a:r>
              <a:t>STRDAHDGE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33172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5146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230"/>
                </a:solidFill>
                <a:latin typeface="Aptos"/>
              </a:defRPr>
            </a:pPr>
            <a:r>
              <a:t>CRNN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46888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28A699"/>
                </a:solidFill>
                <a:latin typeface="Aptos"/>
              </a:defRPr>
            </a:pPr>
            <a:r>
              <a:t>+1.6 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233172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25146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230"/>
                </a:solidFill>
                <a:latin typeface="Aptos"/>
              </a:defRPr>
            </a:pPr>
            <a:r>
              <a:t>TRBA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46888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28A699"/>
                </a:solidFill>
                <a:latin typeface="Aptos"/>
              </a:defRPr>
            </a:pPr>
            <a:r>
              <a:t>+1.8 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331720"/>
            <a:ext cx="2743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51460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2230"/>
                </a:solidFill>
                <a:latin typeface="Aptos"/>
              </a:defRPr>
            </a:pPr>
            <a:r>
              <a:t>ABINet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46888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00" b="1">
                <a:solidFill>
                  <a:srgbClr val="28A699"/>
                </a:solidFill>
                <a:latin typeface="Aptos"/>
              </a:defRPr>
            </a:pPr>
            <a:r>
              <a:t>+1.4 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436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B705D"/>
                </a:solidFill>
                <a:latin typeface="Aptos"/>
              </a:defRPr>
            </a:pPr>
            <a:r>
              <a:t>On Union14M, the gains are even larger: +4.5 CRNN • +7.6 TRBA • +7.2 ABINet.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09 •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Two experiments explain why the design choices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The paper studies the number of subsets n and the HDGE parameter 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96012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11095"/>
            <a:ext cx="8138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ABLATION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82230"/>
                </a:solidFill>
                <a:latin typeface="Aptos"/>
              </a:defRPr>
            </a:pPr>
            <a:r>
              <a:t>How many subsets?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A"/>
                </a:solidFill>
                <a:latin typeface="Aptos"/>
              </a:defRPr>
            </a:pPr>
            <a:r>
              <a:t>Increasing n reduces the domain disparity per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892040"/>
            <a:ext cx="4297680" cy="9144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5" y="4197096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19936" y="4078224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97456" y="3895344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74976" y="3694176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52496" y="3493008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30015" y="3346704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07536" y="3236976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5056" y="3291840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40096" y="3438144"/>
            <a:ext cx="109728" cy="109728"/>
          </a:xfrm>
          <a:prstGeom prst="ellipse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251960"/>
            <a:ext cx="47752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74800" y="4133087"/>
            <a:ext cx="47752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2320" y="3950208"/>
            <a:ext cx="47752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29840" y="3749039"/>
            <a:ext cx="47752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07360" y="3547872"/>
            <a:ext cx="47752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4880" y="3401568"/>
            <a:ext cx="47752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62399" y="3291840"/>
            <a:ext cx="47752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9920" y="3346704"/>
            <a:ext cx="955040" cy="18288"/>
          </a:xfrm>
          <a:prstGeom prst="rect">
            <a:avLst/>
          </a:prstGeom>
          <a:solidFill>
            <a:srgbClr val="3D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D69D6"/>
                </a:solidFill>
                <a:latin typeface="Aptos"/>
              </a:defRPr>
            </a:pPr>
            <a:r>
              <a:t>Best reported: TRBA n=7 (92.83%)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1324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C697A"/>
                </a:solidFill>
                <a:latin typeface="Aptos"/>
              </a:defRPr>
            </a:pPr>
            <a:r>
              <a:t>ABINet peaks at n=5 (93.17%).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64592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6520" y="1874519"/>
            <a:ext cx="960120" cy="310896"/>
          </a:xfrm>
          <a:prstGeom prst="roundRect">
            <a:avLst/>
          </a:prstGeom>
          <a:solidFill>
            <a:srgbClr val="F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1911095"/>
            <a:ext cx="8138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705D"/>
                </a:solidFill>
                <a:latin typeface="Aptos"/>
              </a:defRPr>
            </a:pPr>
            <a:r>
              <a:t>ABLATION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3042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82230"/>
                </a:solidFill>
                <a:latin typeface="Aptos"/>
              </a:defRPr>
            </a:pPr>
            <a:r>
              <a:t>Why use both domains?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78892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A"/>
                </a:solidFill>
                <a:latin typeface="Aptos"/>
              </a:defRPr>
            </a:pPr>
            <a:r>
              <a:t>β controls the balance in HDGE. β=0 uses only source-side information.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794760"/>
            <a:ext cx="1965960" cy="960120"/>
          </a:xfrm>
          <a:prstGeom prst="round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77639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D69D6"/>
                </a:solidFill>
                <a:latin typeface="Aptos"/>
              </a:defRPr>
            </a:pPr>
            <a:r>
              <a:t>β =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279392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2230"/>
                </a:solidFill>
                <a:latin typeface="Aptos"/>
              </a:defRPr>
            </a:pPr>
            <a:r>
              <a:t>TRBA 92.41%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32520" y="3794760"/>
            <a:ext cx="1965960" cy="96012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3977639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8A699"/>
                </a:solidFill>
                <a:latin typeface="Aptos"/>
              </a:defRPr>
            </a:pPr>
            <a:r>
              <a:t>β = 0.9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4279392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2230"/>
                </a:solidFill>
                <a:latin typeface="Aptos"/>
              </a:defRPr>
            </a:pPr>
            <a:r>
              <a:t>TRBA 92.61%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7492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8A699"/>
                </a:solidFill>
                <a:latin typeface="Aptos"/>
              </a:defRPr>
            </a:pPr>
            <a:r>
              <a:t>Both source + target directions give the stronger reported result.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10 • QUALITATIVE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The model gets better pseudo-labels as it adapts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Examples in the paper show how progressive rounds help on increasingly difficult target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2029968"/>
            <a:ext cx="91440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1" y="2066544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Round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2608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82230"/>
                </a:solidFill>
                <a:latin typeface="Aptos"/>
              </a:defRPr>
            </a:pPr>
            <a:r>
              <a:t>PEBBLES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9300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StrDAHDGE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81304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8A699"/>
                </a:solidFill>
                <a:latin typeface="Aptos"/>
              </a:defRPr>
            </a:pPr>
            <a:r>
              <a:t>PEBBLES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029968"/>
            <a:ext cx="91440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066544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Round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060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2608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EB705D"/>
                </a:solidFill>
                <a:latin typeface="Aptos"/>
              </a:defRPr>
            </a:pPr>
            <a:r>
              <a:t>GRMEL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9300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StrDAHDGE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1304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8A699"/>
                </a:solidFill>
                <a:latin typeface="Aptos"/>
              </a:defRPr>
            </a:pPr>
            <a:r>
              <a:t>CAMEL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029968"/>
            <a:ext cx="91440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66544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Round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060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EB705D"/>
                </a:solidFill>
                <a:latin typeface="Aptos"/>
              </a:defRPr>
            </a:pPr>
            <a:r>
              <a:t>DISTNCT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9300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StrDAHDGE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1304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8A699"/>
                </a:solidFill>
                <a:latin typeface="Aptos"/>
              </a:defRPr>
            </a:pPr>
            <a:r>
              <a:t>DISTRICT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828800"/>
            <a:ext cx="2514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2029968"/>
            <a:ext cx="914400" cy="310896"/>
          </a:xfrm>
          <a:prstGeom prst="roundRect">
            <a:avLst/>
          </a:prstGeom>
          <a:solidFill>
            <a:srgbClr val="E8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066544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Round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6060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92608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EB705D"/>
                </a:solidFill>
                <a:latin typeface="Aptos"/>
              </a:defRPr>
            </a:pPr>
            <a:r>
              <a:t>AUSTRAUA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49300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C697A"/>
                </a:solidFill>
                <a:latin typeface="Aptos"/>
              </a:defRPr>
            </a:pPr>
            <a:r>
              <a:t>StrDAHDGE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81304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8A699"/>
                </a:solidFill>
                <a:latin typeface="Aptos"/>
              </a:defRPr>
            </a:pPr>
            <a:r>
              <a:t>AUSTRALIA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634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82230"/>
                </a:solidFill>
                <a:latin typeface="Aptos"/>
              </a:defRPr>
            </a:pPr>
            <a:r>
              <a:t>The paper's qualitative examples support the mechanism: better adaptation → cleaner pseudo-labels.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9039" y="5486400"/>
            <a:ext cx="1280160" cy="310896"/>
          </a:xfrm>
          <a:prstGeom prst="roundRect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1" y="5522976"/>
            <a:ext cx="11338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8A699"/>
                </a:solidFill>
                <a:latin typeface="Aptos"/>
              </a:defRPr>
            </a:pPr>
            <a:r>
              <a:t>easier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5486400"/>
            <a:ext cx="1280160" cy="310896"/>
          </a:xfrm>
          <a:prstGeom prst="roundRect">
            <a:avLst/>
          </a:prstGeom>
          <a:solidFill>
            <a:srgbClr val="F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68112" y="5522976"/>
            <a:ext cx="11338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D69D6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79" y="5486400"/>
            <a:ext cx="1280160" cy="310896"/>
          </a:xfrm>
          <a:prstGeom prst="roundRect">
            <a:avLst/>
          </a:prstGeom>
          <a:solidFill>
            <a:srgbClr val="F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5522976"/>
            <a:ext cx="11338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705D"/>
                </a:solidFill>
                <a:latin typeface="Aptos"/>
              </a:defRPr>
            </a:pPr>
            <a:r>
              <a:t>harder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D69D6"/>
                </a:solidFill>
                <a:latin typeface="Aptos"/>
              </a:defRPr>
            </a:pPr>
            <a:r>
              <a:t>11 •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82230"/>
                </a:solidFill>
                <a:latin typeface="Aptos"/>
              </a:defRPr>
            </a:pPr>
            <a:r>
              <a:t>What should we remember from this paper?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A"/>
                </a:solidFill>
                <a:latin typeface="Aptos"/>
              </a:defRPr>
            </a:pPr>
            <a:r>
              <a:t>A concise presentation summary.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3337560" cy="2423160"/>
          </a:xfrm>
          <a:prstGeom prst="roundRect">
            <a:avLst/>
          </a:prstGeom>
          <a:solidFill>
            <a:srgbClr val="E8EFFC"/>
          </a:solidFill>
          <a:ln>
            <a:solidFill>
              <a:srgbClr val="3D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69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A"/>
                </a:solidFill>
                <a:latin typeface="Aptos"/>
              </a:defRPr>
            </a:pPr>
            <a:r>
              <a:t>Estimate how each target sample relates to the source/target 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83080"/>
            <a:ext cx="3337560" cy="2423160"/>
          </a:xfrm>
          <a:prstGeom prst="roundRect">
            <a:avLst/>
          </a:prstGeom>
          <a:solidFill>
            <a:srgbClr val="E5F7F4"/>
          </a:solidFill>
          <a:ln>
            <a:solidFill>
              <a:srgbClr val="28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2996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8A6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542032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10896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A"/>
                </a:solidFill>
                <a:latin typeface="Aptos"/>
              </a:defRPr>
            </a:pPr>
            <a:r>
              <a:t>Sort target images into subsets with progressively increasing domain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337560" cy="2423160"/>
          </a:xfrm>
          <a:prstGeom prst="roundRect">
            <a:avLst/>
          </a:prstGeom>
          <a:solidFill>
            <a:srgbClr val="FCEBE7"/>
          </a:solidFill>
          <a:ln>
            <a:solidFill>
              <a:srgbClr val="EB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02996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705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42032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Adapt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0896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A"/>
                </a:solidFill>
                <a:latin typeface="Aptos"/>
              </a:defRPr>
            </a:pPr>
            <a:r>
              <a:t>Self-train sequentially so the model learns from easier to harder target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617720"/>
            <a:ext cx="10149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89204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230"/>
                </a:solidFill>
                <a:latin typeface="Aptos"/>
              </a:defRPr>
            </a:pPr>
            <a:r>
              <a:t>Domain gap ↓ per step   →   pseudo-label quality ↑   →   recognition accuracy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DC4EB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ADC4E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16636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Stratified Domain Adaptation</a:t>
            </a:r>
            <a:br/>
            <a:r>
              <a:t>A Progressive Self-Training Approach for Scene Text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5778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ADC4EB"/>
                </a:solidFill>
                <a:latin typeface="Aptos"/>
              </a:defRPr>
            </a:pPr>
            <a:r>
              <a:t>Samiru Nuwanaka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C697A"/>
                </a:solidFill>
                <a:latin typeface="Aptos"/>
              </a:defRPr>
            </a:pPr>
            <a:r>
              <a:t>STRDA • WACV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9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